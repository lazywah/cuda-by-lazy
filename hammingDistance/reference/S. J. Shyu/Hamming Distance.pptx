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04E20-B88C-47BC-B12A-4C4FC0773BEC}" type="datetimeFigureOut">
              <a:rPr lang="zh-TW" altLang="en-US" smtClean="0"/>
              <a:t>2025/7/17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B188A-676F-435A-A564-6580A0991B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6495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04E20-B88C-47BC-B12A-4C4FC0773BEC}" type="datetimeFigureOut">
              <a:rPr lang="zh-TW" altLang="en-US" smtClean="0"/>
              <a:t>2025/7/17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B188A-676F-435A-A564-6580A0991B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6996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04E20-B88C-47BC-B12A-4C4FC0773BEC}" type="datetimeFigureOut">
              <a:rPr lang="zh-TW" altLang="en-US" smtClean="0"/>
              <a:t>2025/7/17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B188A-676F-435A-A564-6580A0991B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2727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04E20-B88C-47BC-B12A-4C4FC0773BEC}" type="datetimeFigureOut">
              <a:rPr lang="zh-TW" altLang="en-US" smtClean="0"/>
              <a:t>2025/7/17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B188A-676F-435A-A564-6580A0991B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3351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04E20-B88C-47BC-B12A-4C4FC0773BEC}" type="datetimeFigureOut">
              <a:rPr lang="zh-TW" altLang="en-US" smtClean="0"/>
              <a:t>2025/7/17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B188A-676F-435A-A564-6580A0991B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3720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04E20-B88C-47BC-B12A-4C4FC0773BEC}" type="datetimeFigureOut">
              <a:rPr lang="zh-TW" altLang="en-US" smtClean="0"/>
              <a:t>2025/7/17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B188A-676F-435A-A564-6580A0991B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8448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04E20-B88C-47BC-B12A-4C4FC0773BEC}" type="datetimeFigureOut">
              <a:rPr lang="zh-TW" altLang="en-US" smtClean="0"/>
              <a:t>2025/7/17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B188A-676F-435A-A564-6580A0991B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3324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04E20-B88C-47BC-B12A-4C4FC0773BEC}" type="datetimeFigureOut">
              <a:rPr lang="zh-TW" altLang="en-US" smtClean="0"/>
              <a:t>2025/7/17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B188A-676F-435A-A564-6580A0991B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7652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04E20-B88C-47BC-B12A-4C4FC0773BEC}" type="datetimeFigureOut">
              <a:rPr lang="zh-TW" altLang="en-US" smtClean="0"/>
              <a:t>2025/7/17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B188A-676F-435A-A564-6580A0991B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8162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04E20-B88C-47BC-B12A-4C4FC0773BEC}" type="datetimeFigureOut">
              <a:rPr lang="zh-TW" altLang="en-US" smtClean="0"/>
              <a:t>2025/7/17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B188A-676F-435A-A564-6580A0991B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4198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04E20-B88C-47BC-B12A-4C4FC0773BEC}" type="datetimeFigureOut">
              <a:rPr lang="zh-TW" altLang="en-US" smtClean="0"/>
              <a:t>2025/7/17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B188A-676F-435A-A564-6580A0991B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9670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F04E20-B88C-47BC-B12A-4C4FC0773BEC}" type="datetimeFigureOut">
              <a:rPr lang="zh-TW" altLang="en-US" smtClean="0"/>
              <a:t>2025/7/17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8B188A-676F-435A-A564-6580A0991B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5911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71625" y="7366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altLang="zh-TW" b="1" dirty="0" smtClean="0">
                <a:latin typeface="Bookman Old Style" panose="02050604050505020204" pitchFamily="18" charset="0"/>
              </a:rPr>
              <a:t>Hamming Distance </a:t>
            </a:r>
            <a:br>
              <a:rPr lang="en-US" altLang="zh-TW" b="1" dirty="0" smtClean="0">
                <a:latin typeface="Bookman Old Style" panose="02050604050505020204" pitchFamily="18" charset="0"/>
              </a:rPr>
            </a:br>
            <a:r>
              <a:rPr lang="en-US" altLang="zh-TW" b="1" dirty="0" smtClean="0">
                <a:latin typeface="Bookman Old Style" panose="02050604050505020204" pitchFamily="18" charset="0"/>
              </a:rPr>
              <a:t>Bit-words Computations</a:t>
            </a:r>
            <a:endParaRPr lang="zh-TW" altLang="en-US" b="1" dirty="0">
              <a:latin typeface="Bookman Old Style" panose="020506040505050202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TW" sz="3600" b="1" dirty="0">
                <a:latin typeface="Bookman Old Style" panose="02050604050505020204" pitchFamily="18" charset="0"/>
                <a:ea typeface="+mj-ea"/>
                <a:cs typeface="+mj-cs"/>
              </a:rPr>
              <a:t>S. J. Shyu</a:t>
            </a:r>
            <a:endParaRPr lang="zh-TW" altLang="en-US" sz="3600" b="1" dirty="0">
              <a:latin typeface="Bookman Old Style" panose="02050604050505020204" pitchFamily="18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5799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5324" y="96678"/>
            <a:ext cx="10515600" cy="831737"/>
          </a:xfrm>
        </p:spPr>
        <p:txBody>
          <a:bodyPr/>
          <a:lstStyle/>
          <a:p>
            <a:pPr algn="ctr"/>
            <a:r>
              <a:rPr lang="en-US" altLang="zh-TW" b="1" dirty="0" smtClean="0">
                <a:latin typeface="Bookman Old Style" panose="02050604050505020204" pitchFamily="18" charset="0"/>
              </a:rPr>
              <a:t>Computing Hamming Distance</a:t>
            </a:r>
            <a:endParaRPr lang="zh-TW" altLang="en-US" b="1" dirty="0">
              <a:latin typeface="Bookman Old Style" panose="02050604050505020204" pitchFamily="18" charset="0"/>
            </a:endParaRPr>
          </a:p>
        </p:txBody>
      </p:sp>
      <p:sp>
        <p:nvSpPr>
          <p:cNvPr id="4" name="內容版面配置區 2"/>
          <p:cNvSpPr txBox="1">
            <a:spLocks/>
          </p:cNvSpPr>
          <p:nvPr/>
        </p:nvSpPr>
        <p:spPr>
          <a:xfrm>
            <a:off x="487837" y="961248"/>
            <a:ext cx="10515600" cy="5896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Consider </a:t>
            </a:r>
            <a:r>
              <a:rPr lang="en-US" altLang="zh-TW" sz="2400" b="1" i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400" b="1" baseline="-250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 = CGTCA  and </a:t>
            </a:r>
            <a:r>
              <a:rPr lang="en-US" altLang="zh-TW" sz="2400" b="1" i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400" b="1" baseline="-250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4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GATCT. </a:t>
            </a:r>
          </a:p>
          <a:p>
            <a:r>
              <a:rPr lang="en-US" altLang="zh-TW" sz="24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Encode them into 3-bit-words</a:t>
            </a:r>
          </a:p>
          <a:p>
            <a:pPr lvl="1"/>
            <a:r>
              <a:rPr lang="en-US" altLang="zh-TW" sz="20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C</a:t>
            </a:r>
            <a:r>
              <a:rPr lang="zh-TW" altLang="en-US" sz="20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G</a:t>
            </a:r>
            <a:r>
              <a:rPr lang="zh-TW" altLang="en-US" sz="20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T</a:t>
            </a:r>
            <a:r>
              <a:rPr lang="zh-TW" altLang="en-US" sz="20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C</a:t>
            </a:r>
            <a:r>
              <a:rPr lang="zh-TW" altLang="en-US" sz="20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A</a:t>
            </a:r>
            <a:r>
              <a:rPr lang="zh-TW" altLang="en-US" sz="20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(001)(010)(011)(001)(000)</a:t>
            </a:r>
          </a:p>
          <a:p>
            <a:pPr lvl="1"/>
            <a:r>
              <a:rPr lang="en-US" altLang="zh-TW" sz="20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G A T C T = (010)(000)(011)(001)(011)</a:t>
            </a:r>
          </a:p>
          <a:p>
            <a:r>
              <a:rPr lang="en-US" altLang="zh-TW" sz="2400" b="1" dirty="0" smtClean="0">
                <a:latin typeface="Bookman Old Style" panose="0205060405050502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zh-TW" altLang="en-US" sz="2400" b="1" dirty="0" smtClean="0">
                <a:latin typeface="Bookman Old Style" panose="0205060405050502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、</a:t>
            </a:r>
            <a:r>
              <a:rPr lang="en-US" altLang="zh-TW" sz="2400" b="1" dirty="0" smtClean="0">
                <a:latin typeface="Bookman Old Style" panose="0205060405050502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zh-TW" altLang="en-US" sz="2400" b="1" dirty="0" smtClean="0">
                <a:latin typeface="Bookman Old Style" panose="0205060405050502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、</a:t>
            </a:r>
            <a:r>
              <a:rPr lang="en-US" altLang="zh-TW" sz="2400" b="1" dirty="0" smtClean="0">
                <a:latin typeface="Bookman Old Style" panose="0205060405050502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&amp;</a:t>
            </a:r>
            <a:r>
              <a:rPr lang="zh-TW" altLang="en-US" sz="2400" b="1" dirty="0" smtClean="0">
                <a:latin typeface="Bookman Old Style" panose="0205060405050502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、</a:t>
            </a:r>
            <a:r>
              <a:rPr lang="en-US" altLang="zh-TW" sz="2400" b="1" dirty="0" err="1" smtClean="0">
                <a:latin typeface="Bookman Old Style" panose="0205060405050502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popcount</a:t>
            </a:r>
            <a:r>
              <a:rPr lang="en-US" altLang="zh-TW" sz="2400" b="1" dirty="0" smtClean="0">
                <a:latin typeface="Bookman Old Style" panose="0205060405050502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(population count): </a:t>
            </a:r>
            <a:r>
              <a:rPr lang="en-US" altLang="zh-TW" sz="2400" b="1" dirty="0" smtClean="0">
                <a:solidFill>
                  <a:srgbClr val="7030A0"/>
                </a:solidFill>
                <a:latin typeface="Bookman Old Style" panose="0205060405050502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-word operations</a:t>
            </a:r>
            <a:endParaRPr lang="en-US" altLang="zh-TW" sz="2400" b="1" dirty="0" smtClean="0">
              <a:solidFill>
                <a:srgbClr val="7030A0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zh-TW" sz="2000" b="1" i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     S</a:t>
            </a:r>
            <a:r>
              <a:rPr lang="en-US" altLang="zh-TW" sz="2000" b="1" baseline="-250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      			=</a:t>
            </a:r>
            <a:r>
              <a:rPr lang="zh-TW" altLang="en-US" sz="20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(001)(010)(011)(001)(000)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en-US" altLang="zh-TW" sz="2000" b="1" i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     S</a:t>
            </a:r>
            <a:r>
              <a:rPr lang="en-US" altLang="zh-TW" sz="2000" b="1" baseline="-250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     			= (010)(000)(011)(001)(011)</a:t>
            </a:r>
          </a:p>
          <a:p>
            <a:pPr marL="457200" lvl="1" indent="0">
              <a:buNone/>
            </a:pPr>
            <a:r>
              <a:rPr lang="zh-TW" altLang="en-US" sz="2000" b="1" i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2000" b="1" i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000" b="1" baseline="-250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 smtClean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TW" sz="20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i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000" b="1" baseline="-250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  		= (011)(010)(000)(000)(011)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en-US" altLang="zh-TW" sz="2000" b="1" dirty="0" smtClean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TW" sz="2000" b="1" dirty="0" smtClean="0">
                <a:latin typeface="Bookman Old Style" panose="0205060405050502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en-US" altLang="zh-TW" sz="2000" b="1" dirty="0" smtClean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(011)</a:t>
            </a:r>
            <a:r>
              <a:rPr lang="en-US" altLang="zh-TW" sz="2000" b="1" baseline="30000" dirty="0" smtClean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en-US" altLang="zh-TW" sz="2000" b="1" dirty="0" smtClean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TW" sz="2000" b="1" dirty="0" smtClean="0">
                <a:latin typeface="Bookman Old Style" panose="0205060405050502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			</a:t>
            </a:r>
            <a:r>
              <a:rPr lang="en-US" altLang="zh-TW" sz="20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000" b="1" dirty="0" smtClean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(011)(011)(011)(011)(011)</a:t>
            </a:r>
            <a:endParaRPr lang="en-US" altLang="zh-TW" sz="2000" b="1" dirty="0" smtClean="0">
              <a:solidFill>
                <a:schemeClr val="accent5">
                  <a:lumMod val="75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lvl="1" indent="0">
              <a:buNone/>
            </a:pPr>
            <a:r>
              <a:rPr lang="en-US" altLang="zh-TW" sz="2000" b="1" i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    S</a:t>
            </a:r>
            <a:r>
              <a:rPr lang="en-US" altLang="zh-TW" sz="2000" b="1" baseline="-250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 smtClean="0">
                <a:latin typeface="Bookman Old Style" panose="0205060405050502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TW" sz="2000" b="1" i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000" b="1" baseline="-250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 smtClean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+</a:t>
            </a:r>
            <a:r>
              <a:rPr lang="en-US" altLang="zh-TW" sz="2000" b="1" dirty="0" smtClean="0">
                <a:solidFill>
                  <a:schemeClr val="accent5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(011)</a:t>
            </a:r>
            <a:r>
              <a:rPr lang="en-US" altLang="zh-TW" sz="20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		= (110)(101)(011)(011)(110)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en-US" altLang="zh-TW" sz="2000" b="1" dirty="0" smtClean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&amp;</a:t>
            </a:r>
            <a:r>
              <a:rPr lang="en-US" altLang="zh-TW" sz="2000" b="1" dirty="0" smtClean="0">
                <a:latin typeface="Bookman Old Style" panose="0205060405050502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en-US" altLang="zh-TW" sz="2000" b="1" dirty="0" smtClean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(100)</a:t>
            </a:r>
            <a:r>
              <a:rPr lang="en-US" altLang="zh-TW" sz="2000" b="1" baseline="30000" dirty="0" smtClean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en-US" altLang="zh-TW" sz="2000" b="1" dirty="0" smtClean="0">
                <a:latin typeface="Bookman Old Style" panose="0205060405050502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		</a:t>
            </a:r>
            <a:r>
              <a:rPr lang="en-US" altLang="zh-TW" sz="20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000" b="1" dirty="0" smtClean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(100)(100)(100)(100)(100)</a:t>
            </a:r>
            <a:endParaRPr lang="en-US" altLang="zh-TW" sz="2000" b="1" dirty="0" smtClean="0">
              <a:solidFill>
                <a:schemeClr val="accent6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lvl="1" indent="0">
              <a:buNone/>
            </a:pPr>
            <a:r>
              <a:rPr lang="en-US" altLang="zh-TW" sz="2000" b="1" i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    S</a:t>
            </a:r>
            <a:r>
              <a:rPr lang="en-US" altLang="zh-TW" sz="2000" b="1" baseline="-250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 smtClean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TW" sz="2000" b="1" i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000" b="1" baseline="-250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 smtClean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+</a:t>
            </a:r>
            <a:r>
              <a:rPr lang="en-US" altLang="zh-TW" sz="2000" b="1" dirty="0" smtClean="0">
                <a:solidFill>
                  <a:schemeClr val="accent5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(011)</a:t>
            </a:r>
            <a:r>
              <a:rPr lang="en-US" altLang="zh-TW" sz="2000" b="1" baseline="30000" dirty="0" smtClean="0">
                <a:solidFill>
                  <a:schemeClr val="accent5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sz="2000" b="1" dirty="0" smtClean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&amp;</a:t>
            </a:r>
            <a:r>
              <a:rPr lang="en-US" altLang="zh-TW" sz="2000" b="1" baseline="30000" dirty="0" smtClean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TW" sz="2000" b="1" dirty="0" smtClean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100)</a:t>
            </a:r>
            <a:r>
              <a:rPr lang="en-US" altLang="zh-TW" sz="2000" b="1" baseline="30000" dirty="0" smtClean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en-US" altLang="zh-TW" sz="20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	= (100)(100)(000)(000)(100)</a:t>
            </a:r>
          </a:p>
          <a:p>
            <a:pPr marL="0" indent="0">
              <a:buNone/>
            </a:pPr>
            <a:r>
              <a:rPr lang="zh-TW" altLang="en-US" sz="20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20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0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 smtClean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__</a:t>
            </a:r>
            <a:r>
              <a:rPr lang="en-US" altLang="zh-TW" sz="2000" b="1" dirty="0" err="1" smtClean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popcnt</a:t>
            </a:r>
            <a:r>
              <a:rPr lang="en-US" altLang="zh-TW" sz="20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000" b="1" baseline="-250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 smtClean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TW" sz="2000" b="1" i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000" b="1" baseline="-250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 smtClean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+</a:t>
            </a:r>
            <a:r>
              <a:rPr lang="en-US" altLang="zh-TW" sz="2000" b="1" dirty="0" smtClean="0">
                <a:solidFill>
                  <a:schemeClr val="accent5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(011)</a:t>
            </a:r>
            <a:r>
              <a:rPr lang="en-US" altLang="zh-TW" sz="2000" b="1" baseline="30000" dirty="0" smtClean="0">
                <a:solidFill>
                  <a:schemeClr val="accent5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sz="2000" b="1" dirty="0" smtClean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&amp;</a:t>
            </a:r>
            <a:r>
              <a:rPr lang="en-US" altLang="zh-TW" sz="2000" b="1" baseline="30000" dirty="0" smtClean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TW" sz="2000" b="1" dirty="0" smtClean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100)</a:t>
            </a:r>
            <a:r>
              <a:rPr lang="en-US" altLang="zh-TW" sz="2000" b="1" baseline="30000" dirty="0" smtClean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en-US" altLang="zh-TW" sz="2000" b="1" dirty="0" smtClean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TW" altLang="en-US" sz="2000" b="1" dirty="0" smtClean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TW" sz="2000" b="1" dirty="0" smtClean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zh-TW" altLang="en-US" sz="2000" b="1" dirty="0" smtClean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TW" sz="2000" b="1" dirty="0" smtClean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  <a:p>
            <a:pPr>
              <a:spcBef>
                <a:spcPts val="1800"/>
              </a:spcBef>
            </a:pPr>
            <a:r>
              <a:rPr lang="en-US" altLang="zh-TW" sz="24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unsigned long </a:t>
            </a:r>
            <a:r>
              <a:rPr lang="en-US" altLang="zh-TW" sz="2400" b="1" dirty="0" err="1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long</a:t>
            </a:r>
            <a:r>
              <a:rPr lang="en-US" altLang="zh-TW" sz="24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 (64-bit) holds </a:t>
            </a:r>
            <a:r>
              <a:rPr lang="en-US" altLang="zh-TW" sz="24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21 3-bit substrings</a:t>
            </a:r>
            <a:endParaRPr lang="en-US" altLang="zh-TW" sz="2400" b="1" dirty="0" smtClean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000" b="1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線接點 8"/>
          <p:cNvCxnSpPr/>
          <p:nvPr/>
        </p:nvCxnSpPr>
        <p:spPr>
          <a:xfrm>
            <a:off x="1107047" y="3715613"/>
            <a:ext cx="709359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1107047" y="4537737"/>
            <a:ext cx="709359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1107047" y="5359862"/>
            <a:ext cx="709359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9883805" y="1150700"/>
            <a:ext cx="13235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CGTCA</a:t>
            </a:r>
            <a:endParaRPr lang="zh-TW" altLang="en-US" sz="2400" dirty="0"/>
          </a:p>
        </p:txBody>
      </p:sp>
      <p:sp>
        <p:nvSpPr>
          <p:cNvPr id="21" name="矩形 20"/>
          <p:cNvSpPr/>
          <p:nvPr/>
        </p:nvSpPr>
        <p:spPr>
          <a:xfrm>
            <a:off x="9893423" y="1448618"/>
            <a:ext cx="13106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GATCT</a:t>
            </a:r>
            <a:endParaRPr lang="zh-TW" altLang="en-US" sz="2400" dirty="0"/>
          </a:p>
        </p:txBody>
      </p:sp>
      <p:sp>
        <p:nvSpPr>
          <p:cNvPr id="24" name="矩形 23"/>
          <p:cNvSpPr/>
          <p:nvPr/>
        </p:nvSpPr>
        <p:spPr>
          <a:xfrm>
            <a:off x="9921391" y="1910283"/>
            <a:ext cx="128254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TW" sz="24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11001</a:t>
            </a:r>
            <a:endParaRPr lang="zh-TW" altLang="en-US" sz="2400" dirty="0"/>
          </a:p>
        </p:txBody>
      </p:sp>
      <p:cxnSp>
        <p:nvCxnSpPr>
          <p:cNvPr id="26" name="直線接點 25"/>
          <p:cNvCxnSpPr/>
          <p:nvPr/>
        </p:nvCxnSpPr>
        <p:spPr>
          <a:xfrm>
            <a:off x="9883805" y="1906088"/>
            <a:ext cx="1395193" cy="0"/>
          </a:xfrm>
          <a:prstGeom prst="line">
            <a:avLst/>
          </a:prstGeom>
          <a:ln w="127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1061713" y="3315867"/>
            <a:ext cx="4219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</a:t>
            </a:r>
            <a:endParaRPr lang="zh-TW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9715500" y="3366863"/>
            <a:ext cx="257175" cy="2571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28"/>
          <p:cNvSpPr/>
          <p:nvPr/>
        </p:nvSpPr>
        <p:spPr>
          <a:xfrm>
            <a:off x="9967825" y="3366863"/>
            <a:ext cx="257175" cy="2571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/>
          <p:cNvSpPr/>
          <p:nvPr/>
        </p:nvSpPr>
        <p:spPr>
          <a:xfrm>
            <a:off x="10229855" y="3366863"/>
            <a:ext cx="257175" cy="2571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 30"/>
          <p:cNvSpPr/>
          <p:nvPr/>
        </p:nvSpPr>
        <p:spPr>
          <a:xfrm>
            <a:off x="9715500" y="4313050"/>
            <a:ext cx="257175" cy="2571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9970250" y="4313050"/>
            <a:ext cx="257175" cy="2571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rgbClr val="7030A0"/>
                </a:solidFill>
              </a:rPr>
              <a:t>1</a:t>
            </a:r>
            <a:endParaRPr lang="zh-TW" altLang="en-US" dirty="0">
              <a:solidFill>
                <a:srgbClr val="7030A0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0229855" y="4313050"/>
            <a:ext cx="257175" cy="2571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rgbClr val="7030A0"/>
                </a:solidFill>
              </a:rPr>
              <a:t>1</a:t>
            </a:r>
            <a:endParaRPr lang="zh-TW" altLang="en-US" dirty="0">
              <a:solidFill>
                <a:srgbClr val="7030A0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9713075" y="5010422"/>
            <a:ext cx="257175" cy="2571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9967825" y="5010422"/>
            <a:ext cx="257175" cy="2571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rgbClr val="7030A0"/>
                </a:solidFill>
              </a:rPr>
              <a:t>0</a:t>
            </a:r>
            <a:endParaRPr lang="zh-TW" altLang="en-US" dirty="0">
              <a:solidFill>
                <a:srgbClr val="7030A0"/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0227430" y="5010422"/>
            <a:ext cx="257175" cy="2571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rgbClr val="7030A0"/>
                </a:solidFill>
              </a:rPr>
              <a:t>0</a:t>
            </a:r>
            <a:endParaRPr lang="zh-TW" altLang="en-US" dirty="0">
              <a:solidFill>
                <a:srgbClr val="7030A0"/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9605651" y="5510995"/>
            <a:ext cx="15007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witness-bit</a:t>
            </a:r>
            <a:endParaRPr lang="zh-TW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7199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2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20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000"/>
                            </p:stCondLst>
                            <p:childTnLst>
                              <p:par>
                                <p:cTn id="1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4" grpId="0"/>
      <p:bldP spid="27" grpId="0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/>
    </p:bld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8219</TotalTime>
  <Words>82</Words>
  <Application>Microsoft Office PowerPoint</Application>
  <PresentationFormat>寬螢幕</PresentationFormat>
  <Paragraphs>28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10" baseType="lpstr">
      <vt:lpstr>新細明體</vt:lpstr>
      <vt:lpstr>Arial</vt:lpstr>
      <vt:lpstr>Bookman Old Style</vt:lpstr>
      <vt:lpstr>Calibri</vt:lpstr>
      <vt:lpstr>Calibri Light</vt:lpstr>
      <vt:lpstr>Symbol</vt:lpstr>
      <vt:lpstr>Times New Roman</vt:lpstr>
      <vt:lpstr>Office 佈景主題</vt:lpstr>
      <vt:lpstr>Hamming Distance  Bit-words Computations</vt:lpstr>
      <vt:lpstr>Computing Hamming Distance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Windows 使用者</dc:creator>
  <cp:lastModifiedBy>Windows 使用者</cp:lastModifiedBy>
  <cp:revision>10</cp:revision>
  <dcterms:created xsi:type="dcterms:W3CDTF">2025-07-17T11:05:52Z</dcterms:created>
  <dcterms:modified xsi:type="dcterms:W3CDTF">2025-07-23T04:05:32Z</dcterms:modified>
</cp:coreProperties>
</file>